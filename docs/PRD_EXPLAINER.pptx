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73152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dirty="0">
                <a:solidFill>
                  <a:srgbClr val="E2DDD3"/>
                </a:solidFill>
                <a:latin typeface="Calibri"/>
              </a:rPr>
              <a:t>PRD EXPLAINER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Commercial Property</a:t>
            </a:r>
          </a:p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Inspections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 dirty="0">
                <a:solidFill>
                  <a:srgbClr val="E2DDD3"/>
                </a:solidFill>
                <a:latin typeface="Calibri"/>
              </a:rPr>
              <a:t>Replacing a legacy field-inspection </a:t>
            </a:r>
            <a:r>
              <a:rPr lang="en-US" sz="2000" b="0" dirty="0">
                <a:solidFill>
                  <a:srgbClr val="E2DDD3"/>
                </a:solidFill>
                <a:latin typeface="Calibri"/>
              </a:rPr>
              <a:t>application </a:t>
            </a:r>
            <a:r>
              <a:rPr sz="2000" b="0" dirty="0">
                <a:solidFill>
                  <a:srgbClr val="E2DDD3"/>
                </a:solidFill>
                <a:latin typeface="Calibri"/>
              </a:rPr>
              <a:t>with a </a:t>
            </a:r>
            <a:r>
              <a:rPr lang="en-US" sz="2000" b="0" dirty="0">
                <a:solidFill>
                  <a:srgbClr val="E2DDD3"/>
                </a:solidFill>
                <a:latin typeface="Calibri"/>
              </a:rPr>
              <a:t>workflow-based </a:t>
            </a:r>
            <a:r>
              <a:rPr sz="2000" b="0" dirty="0">
                <a:solidFill>
                  <a:srgbClr val="E2DDD3"/>
                </a:solidFill>
                <a:latin typeface="Calibri"/>
              </a:rPr>
              <a:t>browser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A8361A"/>
                </a:solidFill>
                <a:latin typeface="Calibri"/>
              </a:rPr>
              <a:t>Problem  ·  Users  ·  Must-haves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en-US" sz="1400" b="0" dirty="0">
                <a:solidFill>
                  <a:srgbClr val="E2DDD3"/>
                </a:solidFill>
                <a:latin typeface="Calibri"/>
              </a:rPr>
              <a:t>Peter Reppen</a:t>
            </a:r>
            <a:endParaRPr sz="1400" b="0" dirty="0">
              <a:solidFill>
                <a:srgbClr val="E2DDD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3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4000" b="1" dirty="0">
                <a:solidFill>
                  <a:srgbClr val="0B2A4A"/>
                </a:solidFill>
                <a:latin typeface="Calibri"/>
              </a:rPr>
              <a:t>Outdated, unsupported technology</a:t>
            </a:r>
            <a:r>
              <a:rPr sz="4000" b="1" dirty="0">
                <a:solidFill>
                  <a:srgbClr val="0B2A4A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800" b="0" dirty="0">
                <a:solidFill>
                  <a:srgbClr val="556070"/>
                </a:solidFill>
                <a:latin typeface="Calibri"/>
              </a:rPr>
              <a:t>Our company manages commercial property insurance inspections using a legacy system built on outdated, unsupported technology that no one on staff knows how to maintain.</a:t>
            </a:r>
            <a:endParaRPr sz="1800" b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556070"/>
                </a:solidFill>
                <a:latin typeface="Calibri"/>
              </a:rPr>
              <a:t>Three </a:t>
            </a:r>
            <a:r>
              <a:rPr lang="en-US" sz="1600" b="1" dirty="0">
                <a:solidFill>
                  <a:srgbClr val="556070"/>
                </a:solidFill>
                <a:latin typeface="Calibri"/>
              </a:rPr>
              <a:t>key</a:t>
            </a:r>
            <a:r>
              <a:rPr sz="1600" b="1" dirty="0">
                <a:solidFill>
                  <a:srgbClr val="556070"/>
                </a:solidFill>
                <a:latin typeface="Calibri"/>
              </a:rPr>
              <a:t> pain points: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287" y="29260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2287" y="2926080"/>
            <a:ext cx="36576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6607" y="3154680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A8361A"/>
                </a:solidFill>
                <a:latin typeface="Calibri"/>
              </a:rPr>
              <a:t>PAIN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52044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No browser submission.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160520"/>
            <a:ext cx="31089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Inspectors drive back to the office to type up every report. Half a day of windshield time, every inspection.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047" y="29260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67047" y="2926080"/>
            <a:ext cx="36576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1367" y="3154680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A8361A"/>
                </a:solidFill>
                <a:latin typeface="Calibri"/>
              </a:rPr>
              <a:t>PAIN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352044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No workflow tracking.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160520"/>
            <a:ext cx="31089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Once an order leaves admin's hands, it's a black box. Phone calls and Post-its until someone says it's done.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1807" y="292608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1807" y="2926080"/>
            <a:ext cx="36576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6127" y="3154680"/>
            <a:ext cx="31089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A8361A"/>
                </a:solidFill>
                <a:latin typeface="Calibri"/>
              </a:rPr>
              <a:t>PAIN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127" y="3520440"/>
            <a:ext cx="31089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No cycle-time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4160520"/>
            <a:ext cx="3108960" cy="1600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Nobody can tell you whether an inspection takes three days or three weeks. Can't improve what you can't measure.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4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4000" b="1" dirty="0">
                <a:solidFill>
                  <a:srgbClr val="0B2A4A"/>
                </a:solidFill>
                <a:latin typeface="Calibri"/>
              </a:rPr>
              <a:t>Measuring the process</a:t>
            </a:r>
            <a:endParaRPr sz="4000" b="1" dirty="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dirty="0">
                <a:solidFill>
                  <a:srgbClr val="556070"/>
                </a:solidFill>
                <a:latin typeface="Calibri"/>
              </a:rPr>
              <a:t>Cycle time is </a:t>
            </a:r>
            <a:r>
              <a:rPr lang="en-US" sz="1800" b="0" dirty="0">
                <a:solidFill>
                  <a:srgbClr val="556070"/>
                </a:solidFill>
                <a:latin typeface="Calibri"/>
              </a:rPr>
              <a:t>a critical</a:t>
            </a:r>
            <a:r>
              <a:rPr sz="1800" b="0" dirty="0">
                <a:solidFill>
                  <a:srgbClr val="556070"/>
                </a:solidFill>
                <a:latin typeface="Calibri"/>
              </a:rPr>
              <a:t> metric the legacy system can't produce.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9647" y="2560320"/>
            <a:ext cx="77724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09647" y="2560320"/>
            <a:ext cx="77724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75407" y="2834640"/>
            <a:ext cx="7040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556070"/>
                </a:solidFill>
                <a:latin typeface="Calibri"/>
              </a:rPr>
              <a:t>Order created  →  Decision recorded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407" y="3383280"/>
            <a:ext cx="704088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400" b="1">
                <a:solidFill>
                  <a:srgbClr val="0B2A4A"/>
                </a:solidFill>
                <a:latin typeface="Calibri"/>
              </a:rPr>
              <a:t>How many days?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407" y="4663440"/>
            <a:ext cx="70408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Nobody on the team can answer this today. Surfacing it on a shared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dashboard is the headline goal of v1.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02 · THE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5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>
                <a:solidFill>
                  <a:srgbClr val="0B2A4A"/>
                </a:solidFill>
                <a:latin typeface="Calibri"/>
              </a:rPr>
              <a:t>Three internal users, one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dirty="0">
                <a:solidFill>
                  <a:srgbClr val="556070"/>
                </a:solidFill>
                <a:latin typeface="Calibri"/>
              </a:rPr>
              <a:t>No policyholder access in v1. Authentication is a hard prerequisite for v2.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2468880"/>
            <a:ext cx="3657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2287" y="2468880"/>
            <a:ext cx="36576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6607" y="269748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A8361A"/>
                </a:solidFill>
                <a:latin typeface="Calibri"/>
              </a:rPr>
              <a:t>JEFF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306324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Admin /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3566160"/>
            <a:ext cx="310896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Creates inspection orders from policy and claims reports. Wants to know where every order stands at a glance.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530352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Desktop · Office or home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047" y="2468880"/>
            <a:ext cx="3657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67047" y="2468880"/>
            <a:ext cx="36576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1367" y="269748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A8361A"/>
                </a:solidFill>
                <a:latin typeface="Calibri"/>
              </a:rPr>
              <a:t>JOHN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306324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Inspector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3566160"/>
            <a:ext cx="3108960" cy="8987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Walks the </a:t>
            </a:r>
            <a:r>
              <a:rPr lang="en-US" sz="1400" dirty="0">
                <a:solidFill>
                  <a:srgbClr val="1A1A1A"/>
                </a:solidFill>
                <a:latin typeface="Calibri"/>
              </a:rPr>
              <a:t>property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, takes notes and photos. Loses cell signal in the field. ~5 inspections/week — up to 5/day in catastrophe events.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30352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Laptop in the field · Phone is a stretch goal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1807" y="2468880"/>
            <a:ext cx="3657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1807" y="2468880"/>
            <a:ext cx="3657600" cy="73152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6127" y="269748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A8361A"/>
                </a:solidFill>
                <a:latin typeface="Calibri"/>
              </a:rPr>
              <a:t>KELLY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306324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Underwriter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6127" y="3566160"/>
            <a:ext cx="310896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Reviews submitted inspections, records premium direction and policy action. Works from a queue.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6127" y="5303520"/>
            <a:ext cx="3108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Desktop · Office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03 · MUST-HAVES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6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>
                <a:solidFill>
                  <a:srgbClr val="0B2A4A"/>
                </a:solidFill>
                <a:latin typeface="Calibri"/>
              </a:rPr>
              <a:t>Five must-haves for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556070"/>
                </a:solidFill>
                <a:latin typeface="Calibri"/>
              </a:rPr>
              <a:t>Direct from PRD §4. Everything else is v2 or out of scope.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1277295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91440" cy="749808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A8361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5915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Jeff creates inspection orders.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1018001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Insured details, property address &amp; use, scheduling contact. Without this, nothing else happens.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11277295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127248"/>
            <a:ext cx="91440" cy="749808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18688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A8361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4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John completes a 4-section inspection form in the browser.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93008"/>
            <a:ext cx="1018001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Saves mid-inspection — connectivity is unreliable. Required fields enforced at submit, DB stays permissive.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68496"/>
            <a:ext cx="11277295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68496"/>
            <a:ext cx="91440" cy="749808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059936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A8361A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4164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Kelly reviews submissions and records a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34256"/>
            <a:ext cx="1018001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Notes + premium direction (increase / decrease / no change) + policy action (approve / cancel / renew).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09744"/>
            <a:ext cx="11277295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09744"/>
            <a:ext cx="91440" cy="749808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901184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A8361A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88289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Cycle time is visible to everyone.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75504"/>
            <a:ext cx="1018001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Order created → decision recorded, in days, on the shared dashboard. The success metric for v1.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50992"/>
            <a:ext cx="11277295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650992"/>
            <a:ext cx="91440" cy="749808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74243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A8361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724144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All three users see every order's status.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6016752"/>
            <a:ext cx="10180015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One shared dashboard. Ordered → In Progress → Submitted → Reviewed. No more 'where is that report?'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03 · MUST-HAVES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7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>
                <a:solidFill>
                  <a:srgbClr val="0B2A4A"/>
                </a:solidFill>
                <a:latin typeface="Calibri"/>
              </a:rPr>
              <a:t>Deliberately not in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556070"/>
                </a:solidFill>
                <a:latin typeface="Calibri"/>
              </a:rPr>
              <a:t>Cutting scope this hard is the only reason a three-week build is plausible.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256032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2287" y="2560320"/>
            <a:ext cx="73152" cy="164592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0887" y="274320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Policyholder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3200400"/>
            <a:ext cx="3291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Internal users only. External access is a v2+ conversation.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47" y="256032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67047" y="2560320"/>
            <a:ext cx="73152" cy="164592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5647" y="274320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Text / email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647" y="3200400"/>
            <a:ext cx="3291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Dashboard polling is enough for a controlled v1 pilot.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1807" y="256032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1807" y="2560320"/>
            <a:ext cx="73152" cy="164592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0407" y="2743200"/>
            <a:ext cx="329184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0B2A4A"/>
                </a:solidFill>
                <a:latin typeface="Calibri"/>
              </a:rPr>
              <a:t>CSV import </a:t>
            </a:r>
            <a:r>
              <a:rPr lang="en-US" sz="1600" b="1" dirty="0">
                <a:solidFill>
                  <a:srgbClr val="0B2A4A"/>
                </a:solidFill>
                <a:latin typeface="Calibri"/>
              </a:rPr>
              <a:t>(or API integration) </a:t>
            </a:r>
            <a:r>
              <a:rPr sz="1600" b="1" dirty="0">
                <a:solidFill>
                  <a:srgbClr val="0B2A4A"/>
                </a:solidFill>
                <a:latin typeface="Calibri"/>
              </a:rPr>
              <a:t>from policy or claims</a:t>
            </a:r>
            <a:r>
              <a:rPr lang="en-US" sz="1600" b="1" dirty="0">
                <a:solidFill>
                  <a:srgbClr val="0B2A4A"/>
                </a:solidFill>
                <a:latin typeface="Calibri"/>
              </a:rPr>
              <a:t> systems</a:t>
            </a:r>
            <a:endParaRPr sz="1600" b="1" dirty="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90407" y="3200400"/>
            <a:ext cx="3291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Jeff types orders manually for now. CSV is v2.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287" y="434340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2287" y="4343400"/>
            <a:ext cx="73152" cy="164592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0887" y="452628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887" y="4983480"/>
            <a:ext cx="3291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Open access in v1. Hard prerequisite before real policyholder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047" y="434340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67047" y="4343400"/>
            <a:ext cx="73152" cy="164592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5647" y="452628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Mobile-optimized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5647" y="4983480"/>
            <a:ext cx="3291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Laptop in the field is the commitment. Phone is a stretch goal.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1807" y="4343400"/>
            <a:ext cx="3657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61807" y="4343400"/>
            <a:ext cx="73152" cy="164592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90407" y="452628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Analytics beyond cycle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0407" y="4983480"/>
            <a:ext cx="32918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One metric, done well, beats five half-built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A8361A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>
                <a:solidFill>
                  <a:srgbClr val="E2DDD3"/>
                </a:solidFill>
                <a:latin typeface="Calibri"/>
              </a:rPr>
              <a:t>Cloudflare Workers + D1 + R2.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E2DDD3"/>
                </a:solidFill>
                <a:latin typeface="Calibri"/>
              </a:rPr>
              <a:t>Architecture and data model in two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E2DDD3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APPENDIX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>
                <a:solidFill>
                  <a:srgbClr val="0B2A4A"/>
                </a:solidFill>
                <a:latin typeface="Calibri"/>
              </a:rPr>
              <a:t>Request flow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1448325"/>
            <a:ext cx="11247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dirty="0">
                <a:solidFill>
                  <a:srgbClr val="556070"/>
                </a:solidFill>
                <a:latin typeface="Calibri"/>
              </a:rPr>
              <a:t>Three users → one SPA</a:t>
            </a:r>
            <a:r>
              <a:rPr lang="en-US" sz="1800" b="0" dirty="0">
                <a:solidFill>
                  <a:srgbClr val="556070"/>
                </a:solidFill>
                <a:latin typeface="Calibri"/>
              </a:rPr>
              <a:t> (Single-Page Application)</a:t>
            </a:r>
            <a:r>
              <a:rPr sz="1800" b="0" dirty="0">
                <a:solidFill>
                  <a:srgbClr val="556070"/>
                </a:solidFill>
                <a:latin typeface="Calibri"/>
              </a:rPr>
              <a:t> → one Worker → split storage (D1 + R2).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8327" y="1916559"/>
            <a:ext cx="1828800" cy="4572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8327" y="1916559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Jeff ·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447" y="1916559"/>
            <a:ext cx="1828800" cy="4572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81447" y="1916559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John · Inspector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4567" y="1916559"/>
            <a:ext cx="1828800" cy="4572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84567" y="1916559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Kelly · Underwriter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67831" y="2444180"/>
            <a:ext cx="256032" cy="164592"/>
          </a:xfrm>
          <a:prstGeom prst="down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2670048"/>
            <a:ext cx="103628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2670048"/>
            <a:ext cx="10362895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2798064"/>
            <a:ext cx="10143439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dirty="0">
                <a:solidFill>
                  <a:srgbClr val="0B2A4A"/>
                </a:solidFill>
                <a:latin typeface="Calibri"/>
              </a:rPr>
              <a:t>React SPA</a:t>
            </a:r>
            <a:r>
              <a:rPr lang="en-US" sz="1300" b="1" dirty="0">
                <a:solidFill>
                  <a:srgbClr val="0B2A4A"/>
                </a:solidFill>
                <a:latin typeface="Calibri"/>
              </a:rPr>
              <a:t> (Dashboard)</a:t>
            </a:r>
            <a:endParaRPr sz="1300" b="1" dirty="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4128" y="3090672"/>
            <a:ext cx="10143439" cy="45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routes: /  ·  /orders/new  ·  /orders/:id  ·  /review  ·  /review/:id     (served by ASSETS binding · SPA fallback)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67831" y="3246120"/>
            <a:ext cx="256032" cy="164592"/>
          </a:xfrm>
          <a:prstGeom prst="down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3456432"/>
            <a:ext cx="103628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3456432"/>
            <a:ext cx="10362895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552822"/>
            <a:ext cx="10143439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dirty="0">
                <a:solidFill>
                  <a:srgbClr val="0B2A4A"/>
                </a:solidFill>
                <a:latin typeface="Calibri"/>
              </a:rPr>
              <a:t>Hono Worker · </a:t>
            </a:r>
            <a:r>
              <a:rPr sz="1300" b="1" dirty="0" err="1">
                <a:solidFill>
                  <a:srgbClr val="0B2A4A"/>
                </a:solidFill>
                <a:latin typeface="Calibri"/>
              </a:rPr>
              <a:t>src</a:t>
            </a:r>
            <a:r>
              <a:rPr sz="1300" b="1" dirty="0">
                <a:solidFill>
                  <a:srgbClr val="0B2A4A"/>
                </a:solidFill>
                <a:latin typeface="Calibri"/>
              </a:rPr>
              <a:t>/</a:t>
            </a:r>
            <a:r>
              <a:rPr sz="1300" b="1" dirty="0" err="1">
                <a:solidFill>
                  <a:srgbClr val="0B2A4A"/>
                </a:solidFill>
                <a:latin typeface="Calibri"/>
              </a:rPr>
              <a:t>index.ts</a:t>
            </a:r>
            <a:r>
              <a:rPr lang="en-US" sz="1300" b="1" dirty="0">
                <a:solidFill>
                  <a:srgbClr val="0B2A4A"/>
                </a:solidFill>
                <a:latin typeface="Calibri"/>
              </a:rPr>
              <a:t> (a fast serverless application built using the Hono web framework and deployed onto Cloudflare Workers)</a:t>
            </a:r>
            <a:endParaRPr sz="1300" b="1" dirty="0">
              <a:solidFill>
                <a:srgbClr val="0B2A4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4128" y="3877056"/>
            <a:ext cx="10143439" cy="45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GET /health  ·  app.route('/api/orders', …) → orders · forms · photos · decisions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67831" y="4023360"/>
            <a:ext cx="256032" cy="164592"/>
          </a:xfrm>
          <a:prstGeom prst="down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6295" y="425196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6295" y="4251960"/>
            <a:ext cx="2697480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023" y="4379976"/>
            <a:ext cx="247802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orders.ts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" y="4672584"/>
            <a:ext cx="24780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POST · /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GET · / (cycle_time_days)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43503" y="425196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43503" y="4251960"/>
            <a:ext cx="2697480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53231" y="4379976"/>
            <a:ext cx="247802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forms.ts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3231" y="4672584"/>
            <a:ext cx="24780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GET/PUT · /:id/form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POST · /:id/submit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0711" y="425196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50711" y="4251960"/>
            <a:ext cx="2697480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0439" y="4379976"/>
            <a:ext cx="247802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photos.ts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0439" y="4672584"/>
            <a:ext cx="24780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POST · /:id/photos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GET · /:id/photos[/:photoId]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57919" y="4251960"/>
            <a:ext cx="26974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57919" y="4251960"/>
            <a:ext cx="2697480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647" y="4379976"/>
            <a:ext cx="247802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decisions.ts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7647" y="4672584"/>
            <a:ext cx="24780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POST · /:id/decision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Calibri"/>
              </a:rPr>
              <a:t>GET · /:id/decision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5967831" y="5120640"/>
            <a:ext cx="256032" cy="164592"/>
          </a:xfrm>
          <a:prstGeom prst="down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349240"/>
            <a:ext cx="6949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5349240"/>
            <a:ext cx="6949440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5477256"/>
            <a:ext cx="672998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D1 · binding DB · database 'inspections'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715000"/>
            <a:ext cx="1597914" cy="411480"/>
          </a:xfrm>
          <a:prstGeom prst="rect">
            <a:avLst/>
          </a:prstGeom>
          <a:solidFill>
            <a:srgbClr val="FAF7F2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5715000"/>
            <a:ext cx="159791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inspections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56282" y="5715000"/>
            <a:ext cx="1597914" cy="411480"/>
          </a:xfrm>
          <a:prstGeom prst="rect">
            <a:avLst/>
          </a:prstGeom>
          <a:solidFill>
            <a:srgbClr val="FAF7F2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56282" y="5715000"/>
            <a:ext cx="159791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form_responses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18204" y="5715000"/>
            <a:ext cx="1597914" cy="411480"/>
          </a:xfrm>
          <a:prstGeom prst="rect">
            <a:avLst/>
          </a:prstGeom>
          <a:solidFill>
            <a:srgbClr val="FAF7F2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918204" y="5715000"/>
            <a:ext cx="159791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photos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80126" y="5715000"/>
            <a:ext cx="1597914" cy="411480"/>
          </a:xfrm>
          <a:prstGeom prst="rect">
            <a:avLst/>
          </a:prstGeom>
          <a:solidFill>
            <a:srgbClr val="FAF7F2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80126" y="5715000"/>
            <a:ext cx="1597914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decisions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6895" y="5349240"/>
            <a:ext cx="36576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076895" y="5349240"/>
            <a:ext cx="3657600" cy="54864"/>
          </a:xfrm>
          <a:prstGeom prst="rect">
            <a:avLst/>
          </a:prstGeom>
          <a:solidFill>
            <a:srgbClr val="A83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86623" y="5477256"/>
            <a:ext cx="3438144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R2 · binding PHOTOS · bucket 'inspection-photos'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14055" y="5715000"/>
            <a:ext cx="3383280" cy="411480"/>
          </a:xfrm>
          <a:prstGeom prst="rect">
            <a:avLst/>
          </a:prstGeom>
          <a:solidFill>
            <a:srgbClr val="FAF7F2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14055" y="571500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0B2A4A"/>
                </a:solidFill>
                <a:latin typeface="Calibri"/>
              </a:rPr>
              <a:t>image objects (r2_key)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A83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556070"/>
                </a:solidFill>
                <a:latin typeface="Calibri"/>
              </a:rPr>
              <a:t>APPENDIX · 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280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0">
                <a:solidFill>
                  <a:srgbClr val="556070"/>
                </a:solidFill>
                <a:latin typeface="Calibri"/>
              </a:rPr>
              <a:t>11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263640"/>
            <a:ext cx="11247120" cy="15240"/>
          </a:xfrm>
          <a:prstGeom prst="rect">
            <a:avLst/>
          </a:prstGeom>
          <a:solidFill>
            <a:srgbClr val="E2D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6070"/>
                </a:solidFill>
                <a:latin typeface="Calibri"/>
              </a:rPr>
              <a:t>PRD Explainer — Commercial Property Inspections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>
                <a:solidFill>
                  <a:srgbClr val="0B2A4A"/>
                </a:solidFill>
                <a:latin typeface="Calibri"/>
              </a:rPr>
              <a:t>Data model (D1)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0840"/>
            <a:ext cx="1124712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dirty="0">
                <a:solidFill>
                  <a:srgbClr val="556070"/>
                </a:solidFill>
                <a:latin typeface="Calibri"/>
              </a:rPr>
              <a:t>I</a:t>
            </a:r>
            <a:r>
              <a:rPr sz="1800" b="0" dirty="0">
                <a:solidFill>
                  <a:srgbClr val="556070"/>
                </a:solidFill>
                <a:latin typeface="Calibri"/>
              </a:rPr>
              <a:t>nspections </a:t>
            </a:r>
            <a:r>
              <a:rPr lang="en-US" sz="1800" b="0" dirty="0">
                <a:solidFill>
                  <a:srgbClr val="556070"/>
                </a:solidFill>
                <a:latin typeface="Calibri"/>
              </a:rPr>
              <a:t>table </a:t>
            </a:r>
            <a:r>
              <a:rPr sz="1800" b="0" dirty="0">
                <a:solidFill>
                  <a:srgbClr val="556070"/>
                </a:solidFill>
                <a:latin typeface="Calibri"/>
              </a:rPr>
              <a:t>is the spine. Every other table joins by </a:t>
            </a:r>
            <a:r>
              <a:rPr sz="1800" b="0" dirty="0" err="1">
                <a:solidFill>
                  <a:srgbClr val="556070"/>
                </a:solidFill>
                <a:latin typeface="Calibri"/>
              </a:rPr>
              <a:t>inspection_id</a:t>
            </a:r>
            <a:r>
              <a:rPr sz="1800" b="0" dirty="0">
                <a:solidFill>
                  <a:srgbClr val="55607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4754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4754880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7548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INSPECTIONS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377440"/>
            <a:ext cx="4425696" cy="36758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id (PK)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status — Ordered / In Progress / Submitted / Reviewed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source — Policy / Claims (nullable)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insured_name (NOT NULL)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property_address (NOT NULL)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property_use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contact_name · contact_phone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assigned_inspector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created_at · updated_at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submitted_at — set on POST /:id/submit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decided_at — set on POST /:id/decision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    (drives cycle_time_days on GET /api/orders)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920240"/>
            <a:ext cx="4754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920240"/>
            <a:ext cx="4754880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1920240"/>
            <a:ext cx="47548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FORM_RESPONSES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377440"/>
            <a:ext cx="4425696" cy="795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id (PK)  ·  inspection_id (FK · UNIQUE)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Section 1 (10 cols)  ·  Section 2 (11 cols)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Section 3 (6 cols)  ·  Section 4 (7 cols)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updated_at — all answer columns NULLABLE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383280"/>
            <a:ext cx="4754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49440" y="3383280"/>
            <a:ext cx="4754880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3383280"/>
            <a:ext cx="47548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3840480"/>
            <a:ext cx="4425696" cy="795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id (PK)  ·  inspection_id (FK · UNIQUE)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premium_direction — increase / decrease / no change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policy_action — approve / cancel / renew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notes  ·  decided_by  ·  created_at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846320"/>
            <a:ext cx="47548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49440" y="4846320"/>
            <a:ext cx="4754880" cy="384048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4846320"/>
            <a:ext cx="47548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PHOTOS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5303520"/>
            <a:ext cx="4425696" cy="7955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id (PK)  ·  inspection_id (FK)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section — CHECK 1..4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r2_key (UNIQUE) — pointer to R2 object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• filename · content_type · size_bytes · uploaded_at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12080" y="0"/>
            <a:ext cx="1737360" cy="0"/>
          </a:xfrm>
          <a:prstGeom prst="line">
            <a:avLst/>
          </a:prstGeom>
          <a:ln w="190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40680" y="2455164"/>
            <a:ext cx="1280160" cy="256032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40680" y="245516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556070"/>
                </a:solidFill>
                <a:latin typeface="Calibri"/>
              </a:rPr>
              <a:t>1  ──  0..1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12080" y="0"/>
            <a:ext cx="1737360" cy="0"/>
          </a:xfrm>
          <a:prstGeom prst="line">
            <a:avLst/>
          </a:prstGeom>
          <a:ln w="190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40680" y="3918204"/>
            <a:ext cx="1280160" cy="256032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40680" y="391820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556070"/>
                </a:solidFill>
                <a:latin typeface="Calibri"/>
              </a:rPr>
              <a:t>1  ──  0..1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12080" y="0"/>
            <a:ext cx="1737360" cy="0"/>
          </a:xfrm>
          <a:prstGeom prst="line">
            <a:avLst/>
          </a:prstGeom>
          <a:ln w="19050">
            <a:solidFill>
              <a:srgbClr val="556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40680" y="5381244"/>
            <a:ext cx="1280160" cy="256032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0680" y="5381244"/>
            <a:ext cx="12801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556070"/>
                </a:solidFill>
                <a:latin typeface="Calibri"/>
              </a:rPr>
              <a:t>1  ──  0..N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1182</Words>
  <Application>Microsoft Office PowerPoint</Application>
  <PresentationFormat>Widescreen</PresentationFormat>
  <Paragraphs>156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Reppen</cp:lastModifiedBy>
  <cp:revision>4</cp:revision>
  <dcterms:created xsi:type="dcterms:W3CDTF">2013-01-27T09:14:16Z</dcterms:created>
  <dcterms:modified xsi:type="dcterms:W3CDTF">2026-05-27T19:56:18Z</dcterms:modified>
  <cp:category/>
</cp:coreProperties>
</file>